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82296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4040" y="3429000"/>
            <a:ext cx="1298448" cy="1298448"/>
          </a:xfrm>
          <a:prstGeom prst="roundRect">
            <a:avLst>
              <a:gd name="adj" fmla="val 8451"/>
            </a:avLst>
          </a:prstGeom>
          <a:solidFill>
            <a:srgbClr val="E9FBF7"/>
          </a:solidFill>
          <a:ln w="12700">
            <a:solidFill>
              <a:srgbClr val="E9FB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466344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44752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教学竞赛系统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需求分析汇报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42416" y="2788920"/>
            <a:ext cx="53035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聚焦业务主线、功能结构与落地保障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4128" y="3730752"/>
            <a:ext cx="146304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005072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 err="1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</a:t>
            </a:r>
            <a:r>
              <a:rPr lang="zh-CN" altLang="en-US" sz="10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人：晏翊翔</a:t>
            </a:r>
            <a:r>
              <a:rPr lang="en-US" altLang="zh-CN" sz="10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0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姚志康 制作人：邱道恒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024128" y="610819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本次汇报按“理解业务、拆解功能、验证可落地”三段展开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066544"/>
            <a:ext cx="1993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414016"/>
            <a:ext cx="512064" cy="5120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5420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591056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项目背景与目标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03904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聚焦需求为何存在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980944" y="2066544"/>
            <a:ext cx="1993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2414016"/>
            <a:ext cx="512064" cy="51206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5420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82112" y="3063240"/>
            <a:ext cx="1591056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角色与业务流程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82112" y="3803904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聚焦需求为何存在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248656" y="2066544"/>
            <a:ext cx="1993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9824" y="2414016"/>
            <a:ext cx="512064" cy="5120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25420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9824" y="3063240"/>
            <a:ext cx="1591056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核心功能架构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9824" y="3803904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聚焦需求为何存在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516368" y="2066544"/>
            <a:ext cx="1993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17536" y="241401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5420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17536" y="3063240"/>
            <a:ext cx="1591056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数据与接口设计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17536" y="3803904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聚焦方案如何落地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9784080" y="2066544"/>
            <a:ext cx="199339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85248" y="2414016"/>
            <a:ext cx="512064" cy="51206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03536" y="25420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85248" y="3063240"/>
            <a:ext cx="1591056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非功能与落地保障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85248" y="3803904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聚焦方案如何落地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3232" y="4709160"/>
            <a:ext cx="10863072" cy="1143000"/>
          </a:xfrm>
          <a:prstGeom prst="roundRect">
            <a:avLst>
              <a:gd name="adj" fmla="val 4800"/>
            </a:avLst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709160"/>
            <a:ext cx="82296" cy="1143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482803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汇报说明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7824" y="5138928"/>
            <a:ext cx="10607040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呈现内容：建设目标、角色协同、端到端流程、功能架构、数据接口、非功能与风险控制。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749808"/>
            <a:ext cx="2926080" cy="2926080"/>
          </a:xfrm>
          <a:prstGeom prst="ellipse">
            <a:avLst/>
          </a:prstGeom>
          <a:solidFill>
            <a:srgbClr val="17324D">
              <a:alpha val="0"/>
            </a:srgbClr>
          </a:solidFill>
          <a:ln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170432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>
                    <a:alpha val="6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24128" y="219456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项目理解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2852928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从业务痛点出发，界定系统价值、目标与边界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3611880"/>
            <a:ext cx="126187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647395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项目理解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背景与建设价值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教学竞赛系统的核心诉求，不是做一个报名页面，而是建立全流程可管理、可审计、可追溯的平台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285292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83080"/>
            <a:ext cx="82296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流程分散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2212848"/>
            <a:ext cx="25968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竞赛发布、报名、提交、评审、公示往往分散在表格、邮件和线下审批中，组织成本高。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" y="2990088"/>
            <a:ext cx="285292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990088"/>
            <a:ext cx="82296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108960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数据割裂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" y="3419856"/>
            <a:ext cx="25968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师生信息、竞赛信息、结果信息重复录入，统计口径难统一，跨部门协同效率低。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4197096"/>
            <a:ext cx="285292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197096"/>
            <a:ext cx="82296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315968"/>
            <a:ext cx="25968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治理困难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" y="4626864"/>
            <a:ext cx="25968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审核留痕、评审公平、证书追溯等关键控制点缺少统一支撑，难以形成制度化闭环。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840480" y="1783080"/>
            <a:ext cx="7680960" cy="3493008"/>
          </a:xfrm>
          <a:prstGeom prst="roundRect">
            <a:avLst>
              <a:gd name="adj" fmla="val 209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21488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教学竞赛系统 = 竞赛业务数字化中枢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60520" y="2606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覆盖“发布 - 报名 - 提交 - 审核 - 评审 - 公示 - 证书 - 统计”全链路，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并与教务系统、统一身份认证系统完成数据贯通。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69664" y="382219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383133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流程闭环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321808" y="3822192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3831336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数据贯通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473952" y="3822192"/>
            <a:ext cx="1234440" cy="237744"/>
          </a:xfrm>
          <a:prstGeom prst="roundRect">
            <a:avLst>
              <a:gd name="adj" fmla="val 23077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3831336"/>
            <a:ext cx="11612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合规可追溯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4169664" y="43982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4315968"/>
            <a:ext cx="63825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对参赛者：减少重复填写，提升报名与提交体验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4169664" y="47457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4663440"/>
            <a:ext cx="63825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对管理员：强化流程控制、审批留痕与统计决策能力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4169664" y="509320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5010912"/>
            <a:ext cx="63825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对院校：为后续验收、测试和治理提供统一依据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项目理解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建设目标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需求文档把目标聚焦为六个方面，既包含业务闭环，也包含技术与治理要求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847088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847088"/>
            <a:ext cx="82296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659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全生命周期线上化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227685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发布、报名、提交、评审、公示到证书全程在线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489704" y="1847088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E9FB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9704" y="1847088"/>
            <a:ext cx="82296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9659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外部系统互通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54296" y="227685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对接教务系统与统一身份认证，实现基础数据共享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266176" y="1847088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ECFDF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76" y="1847088"/>
            <a:ext cx="82296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19659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多角色权限体系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0768" y="227685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游客、参赛师生、评审专家、管理员分权协作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13232" y="3493008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FFF4D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493008"/>
            <a:ext cx="82296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6118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多格式作品管理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" y="392277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支持文档、PPT、视频、压缩包等上传与审核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489704" y="3493008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FEECE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9704" y="3493008"/>
            <a:ext cx="82296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36118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评审与统计闭环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54296" y="392277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在线评分、成绩汇总、公示、报表导出一体化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266176" y="3493008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3493008"/>
            <a:ext cx="82296" cy="13716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36118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稳定可靠可运维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30768" y="3922776"/>
            <a:ext cx="3200400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满足并发访问、备份恢复与长期扩展要求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713232" y="5349240"/>
            <a:ext cx="108630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5349240"/>
            <a:ext cx="82296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546811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7824" y="577900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系统建设目标不是简单信息发布，而是让竞赛从“人推动流程”转变为“系统驱动流程”，让规则和数据都沉淀在平台里。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项目理解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业务边界与外部依赖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系统负责竞赛业务闭环，但不替代院校既有基础平台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901952"/>
            <a:ext cx="4663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901952"/>
            <a:ext cx="82296" cy="196596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202082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教学竞赛系统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13632" y="2331720"/>
            <a:ext cx="4407408" cy="1435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负责竞赛配置、报名审核、作品审核、评审组织、结果公示、证书生成、统计分析与系统治理。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86384" y="1810512"/>
            <a:ext cx="23317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810512"/>
            <a:ext cx="82296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1929384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统一身份认证（SSO）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2240280"/>
            <a:ext cx="207568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登录认证、单点登录、会话退出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86384" y="3977640"/>
            <a:ext cx="23317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977640"/>
            <a:ext cx="82296" cy="10607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096512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教务系统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" y="4407408"/>
            <a:ext cx="207568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师生基础信息、组织架构、定时同步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869680" y="2889504"/>
            <a:ext cx="233172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2889504"/>
            <a:ext cx="82296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3008376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消息通知能力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34272" y="3319272"/>
            <a:ext cx="207568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站内消息，可扩展短信/邮件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118104" y="2304288"/>
            <a:ext cx="164592" cy="73152"/>
          </a:xfrm>
          <a:prstGeom prst="roundRect">
            <a:avLst>
              <a:gd name="adj" fmla="val 25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6976" y="2340864"/>
            <a:ext cx="73152" cy="2194560"/>
          </a:xfrm>
          <a:prstGeom prst="roundRect">
            <a:avLst>
              <a:gd name="adj" fmla="val 25000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18104" y="4471416"/>
            <a:ext cx="164592" cy="73152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3355848"/>
            <a:ext cx="438912" cy="73152"/>
          </a:xfrm>
          <a:prstGeom prst="roundRect">
            <a:avLst>
              <a:gd name="adj" fmla="val 25000"/>
            </a:avLst>
          </a:prstGeom>
          <a:solidFill>
            <a:srgbClr val="17324D">
              <a:alpha val="80000"/>
            </a:srgb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355848"/>
            <a:ext cx="457200" cy="73152"/>
          </a:xfrm>
          <a:prstGeom prst="roundRect">
            <a:avLst>
              <a:gd name="adj" fmla="val 25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24912" y="2039112"/>
            <a:ext cx="56692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043684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2724912" y="4197096"/>
            <a:ext cx="56692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4201668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3401568" y="3099816"/>
            <a:ext cx="56692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1732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3104388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8321040" y="3099816"/>
            <a:ext cx="56692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104388"/>
            <a:ext cx="53035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713232" y="5230368"/>
            <a:ext cx="10863072" cy="603504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" y="5230368"/>
            <a:ext cx="82296" cy="6035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5349240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边界原则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7824" y="5660136"/>
            <a:ext cx="10607040" cy="73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本系统仅保留必要业务字段，人员信息由外部同步；证书模板由管理员维护，证书生成与校验由系统执行；接口统一采用 HTTPS 并记录调用日志。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项目理解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用户角色全景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系统覆盖五类角色，竞赛管理员是流程枢纽，参赛师生与评审专家构成业务主线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83080"/>
            <a:ext cx="82296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01952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游客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96112" y="2212848"/>
            <a:ext cx="1938528" cy="79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浏览公开竞赛信息与公示信息，完成注册或登录。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14400" y="2798064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807208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公开用户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163824" y="178308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1783080"/>
            <a:ext cx="82296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1901952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参赛师生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328416" y="2212848"/>
            <a:ext cx="1938528" cy="79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在线报名、提交作品、查询审核与成绩、下载证书。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346704" y="2798064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807208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业务用户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596128" y="178308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1783080"/>
            <a:ext cx="82296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901952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评审专家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760720" y="2212848"/>
            <a:ext cx="1938528" cy="79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接收任务、查看作品、在线评分、提交评语与复核。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779008" y="2798064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22C55E">
              <a:alpha val="95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15584" y="2807208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业务用户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028432" y="1783080"/>
            <a:ext cx="21945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1783080"/>
            <a:ext cx="82296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93024" y="1901952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竞赛管理员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193024" y="2212848"/>
            <a:ext cx="1938528" cy="79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配置竞赛、审核报名与作品、组织评审、公示与证书管理。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8211312" y="2798064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2807208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流程枢纽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681728" y="379476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3794760"/>
            <a:ext cx="82296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13632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系统管理员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4846320" y="4224528"/>
            <a:ext cx="2304288" cy="79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维护账号角色、系统参数、日志审计与备份恢复。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4864608" y="4809744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EF4444">
              <a:alpha val="95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4818888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治理角色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828800" y="3383280"/>
            <a:ext cx="6217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16168" y="3383280"/>
            <a:ext cx="0" cy="384048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5669280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角色关系提示：游客通过注册/登录进入业务域，竞赛管理员负责推动主流程，系统管理员提供平台级治理能力。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项目理解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 - 职责矩阵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从文档看，权限划分遵循“业务角色聚焦任务，治理角色聚焦规则”的原则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371600" cy="512064"/>
          </a:xfrm>
          <a:prstGeom prst="rect">
            <a:avLst/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288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29968" y="1755648"/>
            <a:ext cx="3154680" cy="512064"/>
          </a:xfrm>
          <a:prstGeom prst="rect">
            <a:avLst/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8288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核心职责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84648" y="1755648"/>
            <a:ext cx="5788152" cy="512064"/>
          </a:xfrm>
          <a:prstGeom prst="rect">
            <a:avLst/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1828800"/>
            <a:ext cx="5605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关键权限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2267712"/>
            <a:ext cx="137160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34086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29968" y="2267712"/>
            <a:ext cx="3154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234086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浏览公开竞赛信息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84648" y="2267712"/>
            <a:ext cx="57881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6088" y="2340864"/>
            <a:ext cx="5605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浏览公开内容、注册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2816352"/>
            <a:ext cx="137160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88950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参赛师生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29968" y="2816352"/>
            <a:ext cx="3154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21408" y="288950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参与竞赛全过程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84648" y="2816352"/>
            <a:ext cx="57881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6088" y="2889504"/>
            <a:ext cx="5605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报名、上传作品、查询结果、下载证书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" y="3364992"/>
            <a:ext cx="137160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3814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评审专家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29968" y="3364992"/>
            <a:ext cx="3154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21408" y="343814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完成评审工作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84648" y="3364992"/>
            <a:ext cx="57881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76088" y="3438144"/>
            <a:ext cx="5605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查看分配作品、打分、评语、提交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3913632"/>
            <a:ext cx="137160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98678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竞赛管理员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29968" y="3913632"/>
            <a:ext cx="3154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21408" y="398678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管理竞赛业务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84648" y="3913632"/>
            <a:ext cx="57881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3986784"/>
            <a:ext cx="5605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竞赛配置、审核、分配评审、公示、统计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" y="4462272"/>
            <a:ext cx="137160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45354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系统管理员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29968" y="4462272"/>
            <a:ext cx="3154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1408" y="453542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管理平台运行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84648" y="4462272"/>
            <a:ext cx="5788152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76088" y="4535424"/>
            <a:ext cx="56052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用户角色、参数配置、日志审计、备份恢复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13232" y="5349240"/>
            <a:ext cx="10863072" cy="804672"/>
          </a:xfrm>
          <a:prstGeom prst="roundRect">
            <a:avLst>
              <a:gd name="adj" fmla="val 6818"/>
            </a:avLst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5349240"/>
            <a:ext cx="82296" cy="80467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468112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管理启示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96112" y="5861304"/>
            <a:ext cx="64008" cy="6400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5779008"/>
            <a:ext cx="104973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“竞赛管理员”是高频业务角色，后续界面设计应优先保障其流程效率</a:t>
            </a:r>
            <a:endParaRPr lang="en-US" sz="1010" dirty="0"/>
          </a:p>
        </p:txBody>
      </p:sp>
      <p:sp>
        <p:nvSpPr>
          <p:cNvPr id="50" name="Shape 48"/>
          <p:cNvSpPr/>
          <p:nvPr/>
        </p:nvSpPr>
        <p:spPr>
          <a:xfrm>
            <a:off x="896112" y="6089904"/>
            <a:ext cx="64008" cy="6400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6007608"/>
            <a:ext cx="104973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“系统管理员”不直接参与竞赛业务，而是负责权限、安全、日志和备份等平台治理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749808"/>
            <a:ext cx="2926080" cy="2926080"/>
          </a:xfrm>
          <a:prstGeom prst="ellipse">
            <a:avLst/>
          </a:prstGeom>
          <a:solidFill>
            <a:srgbClr val="17324D">
              <a:alpha val="0"/>
            </a:srgbClr>
          </a:solidFill>
          <a:ln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170432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>
                    <a:alpha val="6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24128" y="219456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2852928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从角色视角梳理主流程，再映射到系统功能结构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3611880"/>
            <a:ext cx="126187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647395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竞赛全流程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需求文档最重要的一条主线，是围绕参赛生命周期形成闭环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4086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发布竞赛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014984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1847088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12264" y="234086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0592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在线报名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441448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78024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参赛师生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3273552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38728" y="2340864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77056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提交作品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867912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04488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参赛师生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700016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82896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2340864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审核材料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294376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0952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6126480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656" y="2340864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37376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9984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分配评审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720840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7416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7552944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35824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8120" y="2340864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0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56448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在线评审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8147304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评审专家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8979408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62288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44584" y="23408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90304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82912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成绩公示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9573768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10344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10405872" y="2670048"/>
            <a:ext cx="182880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88752" y="2240280"/>
            <a:ext cx="1243584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71048" y="234086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16768" y="234086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09376" y="23317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证书生成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11000232" y="2615184"/>
            <a:ext cx="667512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036808" y="262432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713232" y="3886200"/>
            <a:ext cx="33832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" y="3886200"/>
            <a:ext cx="82296" cy="1389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7824" y="4005072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流程特征 1：阶段可控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96112" y="4398264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5840" y="43159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报名期、提交期、评审期、公示期都可配置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96112" y="463600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5840" y="455371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竞赛状态可视化，便于管理员掌握整体进度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407408" y="3886200"/>
            <a:ext cx="338328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07408" y="3886200"/>
            <a:ext cx="82296" cy="13898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4005072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流程特征 2：规则驱动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590288" y="4398264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00016" y="4315968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同一用户同一赛道仅允许一条有效报名记录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590288" y="463600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00016" y="4553712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作品截止后仅最后一次通过审核版本进入评审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101584" y="3886200"/>
            <a:ext cx="347472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101584" y="3886200"/>
            <a:ext cx="82296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66176" y="4005072"/>
            <a:ext cx="3218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流程特征 3：结果闭环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84464" y="439826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94192" y="431596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成绩需可复核、公示需脱敏、证书需唯一编号与可校验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284464" y="46360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94192" y="455371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业务结果最终沉淀为统计报表与审计数据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总体用例视图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从用例层面看，系统围绕五类角色展开，且“注册/登录”是所有角色共享入口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682496"/>
            <a:ext cx="585216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92224"/>
            <a:ext cx="5522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按角色汇总后的总体用例图</a:t>
            </a:r>
            <a:endParaRPr lang="en-US" sz="1020" dirty="0"/>
          </a:p>
        </p:txBody>
      </p:sp>
      <p:pic>
        <p:nvPicPr>
          <p:cNvPr id="11" name="Image 0" descr="D:\SchoolTask\output\ppt_assets\usecase_total_merma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283" y="2103120"/>
            <a:ext cx="1106058" cy="39502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39712" y="1792224"/>
            <a:ext cx="468172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39712" y="1792224"/>
            <a:ext cx="82296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04304" y="1911096"/>
            <a:ext cx="4425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共享入口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04304" y="2221992"/>
            <a:ext cx="4425696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注册/登录作为公共能力，贯穿游客、参赛师生、评审专家、管理员四类角色。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839712" y="3127248"/>
            <a:ext cx="4681728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39712" y="3127248"/>
            <a:ext cx="82296" cy="13350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04304" y="3246120"/>
            <a:ext cx="4425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业务主线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022592" y="3639312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3557016"/>
            <a:ext cx="431596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参赛师生主线：报名、提交作品、查询进度与结果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22592" y="3931920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0" y="3849624"/>
            <a:ext cx="431596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管理员主线：发布、审核、分配、汇总、公示、证书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39712" y="4626864"/>
            <a:ext cx="4681728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39712" y="4626864"/>
            <a:ext cx="82296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04304" y="4745736"/>
            <a:ext cx="4425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设计启示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04304" y="5056632"/>
            <a:ext cx="4425696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管理员承担最多的核心业务动作，系统首页、导航结构和消息提醒都应优先面向其任务编排。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关键场景一：在线报名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报名流程看似简单，但包含时间窗口、字段校验、重复报名判断与状态流转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83080"/>
            <a:ext cx="82296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2990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触发条件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2212848"/>
            <a:ext cx="2990088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参赛师生在报名期内点击“立即报名”，系统校验竞赛状态与用户登录状态。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" y="3072384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072384"/>
            <a:ext cx="82296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191256"/>
            <a:ext cx="2990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关键业务规则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112" y="358444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02152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同一用户同一赛道仅允许一条有效报名记录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3877056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94760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信息不完整或超出截止时间时必须阻止提交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553712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553712"/>
            <a:ext cx="82296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672584"/>
            <a:ext cx="2990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体验要求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4983480"/>
            <a:ext cx="2990088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支持报名草稿自动保存，减少长表单填写过程中的信息丢失风险。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187952" y="1792224"/>
            <a:ext cx="7333488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1901952"/>
            <a:ext cx="700430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报名活动图（横向整理版）</a:t>
            </a:r>
            <a:endParaRPr lang="en-US" sz="1020" dirty="0"/>
          </a:p>
        </p:txBody>
      </p:sp>
      <p:pic>
        <p:nvPicPr>
          <p:cNvPr id="26" name="Image 0" descr="D:\SchoolTask\output\ppt_assets\activity_signup_merma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3334268"/>
            <a:ext cx="7114032" cy="1707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关键场景二：作品提交与审核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提交链路决定参赛体验，审核链路决定材料合规与流程效率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5102352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83080"/>
            <a:ext cx="82296" cy="3182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参赛侧：作品提交链路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28600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322576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295144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选择已通过审核的报名记录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32688" y="290779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44368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916936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上传作品与说明材料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32688" y="352958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66160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538728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系统校验格式、大小与完整性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32688" y="415137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18795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保存版本并返回版本号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144768" y="1783080"/>
            <a:ext cx="5394960" cy="3182112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1783080"/>
            <a:ext cx="82296" cy="31821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901952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管理侧：审核控制链路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4224" y="2286000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2322576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03136" y="2295144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进入审核中心查看待审列表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364224" y="2907792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2944368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03136" y="2916936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按学院、赛道、状态快速筛选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364224" y="3529584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3566160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03136" y="3538728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通过或驳回并记录审核意见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364224" y="415137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4187952"/>
            <a:ext cx="182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03136" y="4160520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系统通知相关参赛人员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713232" y="5285232"/>
            <a:ext cx="33832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5449824"/>
            <a:ext cx="30540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多格式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877824" y="5925312"/>
            <a:ext cx="3054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支持文档 / PPT / 视频 / 压缩包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462272" y="5285232"/>
            <a:ext cx="33832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5449824"/>
            <a:ext cx="30540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断点续传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4626864" y="5925312"/>
            <a:ext cx="30540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高峰场景下保障大文件上传成功率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8211312" y="5285232"/>
            <a:ext cx="332841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5449824"/>
            <a:ext cx="29992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版本回溯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8375904" y="5925312"/>
            <a:ext cx="2999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仅最后通过审核版本进入评审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关键场景三：评审分配与在线评审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评审阶段是业务公平性与结果可信度的核心环节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92224"/>
            <a:ext cx="6419088" cy="1901952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92224"/>
            <a:ext cx="82296" cy="19019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11096"/>
            <a:ext cx="61630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评审组织主链路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542032"/>
            <a:ext cx="932688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7004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配置评分规则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1865376" y="2834640"/>
            <a:ext cx="256032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21408" y="2542032"/>
            <a:ext cx="932688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267004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自动分配任务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54096" y="2834640"/>
            <a:ext cx="256032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2542032"/>
            <a:ext cx="932688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7004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冲突回避复核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4242816" y="2834640"/>
            <a:ext cx="256032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2542032"/>
            <a:ext cx="932688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67004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专家在线评审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5431536" y="2834640"/>
            <a:ext cx="256032" cy="0"/>
          </a:xfrm>
          <a:prstGeom prst="line">
            <a:avLst/>
          </a:prstGeom>
          <a:noFill/>
          <a:ln w="17780">
            <a:solidFill>
              <a:srgbClr val="D7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87568" y="2542032"/>
            <a:ext cx="932688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67004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异常评分预警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388352" y="1792224"/>
            <a:ext cx="41330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88352" y="1792224"/>
            <a:ext cx="82296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52944" y="1911096"/>
            <a:ext cx="38770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评审规则要求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71232" y="230428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221992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支持多维度评分与权重配置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71232" y="2596896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514600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评分记录不可无痕修改，需保留评语与提交时间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88352" y="3310128"/>
            <a:ext cx="413308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88352" y="3310128"/>
            <a:ext cx="82296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3429000"/>
            <a:ext cx="38770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专家端体验要求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71232" y="382219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739896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查看已分配作品并按指标评分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71232" y="407822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3995928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支持评审草稿与最终提交分离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71232" y="433425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4251960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异常退出后可自动恢复草稿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3232" y="5230368"/>
            <a:ext cx="10808208" cy="841248"/>
          </a:xfrm>
          <a:prstGeom prst="roundRect">
            <a:avLst>
              <a:gd name="adj" fmla="val 6522"/>
            </a:avLst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5230368"/>
            <a:ext cx="82296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5349240"/>
            <a:ext cx="105521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这一阶段的关键控制点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96112" y="574243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660136"/>
            <a:ext cx="1044244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先定义规则，再进行任务分配，最后进入专家评分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896112" y="597103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5888736"/>
            <a:ext cx="1044244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专家数量不足、利益冲突、异常评分都必须由系统主动预警</a:t>
            </a:r>
            <a:endParaRPr lang="en-US" sz="10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关键场景四：成绩公示与证书生成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结果发布不是终点，系统还要承接公示、申诉与证书追溯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73936"/>
            <a:ext cx="5541264" cy="3529584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73936"/>
            <a:ext cx="82296" cy="3529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892808"/>
            <a:ext cx="5285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成绩与公示链路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286000"/>
            <a:ext cx="1152144" cy="420624"/>
          </a:xfrm>
          <a:prstGeom prst="roundRect">
            <a:avLst>
              <a:gd name="adj" fmla="val 8696"/>
            </a:avLst>
          </a:prstGeom>
          <a:solidFill>
            <a:srgbClr val="FFF4D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386584"/>
            <a:ext cx="10424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汇总成绩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2286000" y="2368296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自动计算总分与排名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" y="2944368"/>
            <a:ext cx="1152144" cy="420624"/>
          </a:xfrm>
          <a:prstGeom prst="roundRect">
            <a:avLst>
              <a:gd name="adj" fmla="val 8696"/>
            </a:avLst>
          </a:prstGeom>
          <a:solidFill>
            <a:srgbClr val="FFF4D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044952"/>
            <a:ext cx="10424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复核结果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2286000" y="3026664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发现异常评分可触发复核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2688" y="3602736"/>
            <a:ext cx="1152144" cy="420624"/>
          </a:xfrm>
          <a:prstGeom prst="roundRect">
            <a:avLst>
              <a:gd name="adj" fmla="val 8696"/>
            </a:avLst>
          </a:prstGeom>
          <a:solidFill>
            <a:srgbClr val="FFF4D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703320"/>
            <a:ext cx="10424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发布公示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2286000" y="368503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公示内容需脱敏并支持申诉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2688" y="4261104"/>
            <a:ext cx="1152144" cy="420624"/>
          </a:xfrm>
          <a:prstGeom prst="roundRect">
            <a:avLst>
              <a:gd name="adj" fmla="val 8696"/>
            </a:avLst>
          </a:prstGeom>
          <a:solidFill>
            <a:srgbClr val="FFF4D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361688"/>
            <a:ext cx="10424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结果查询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2286000" y="4343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参赛者查看个人成绩与评语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1773936"/>
            <a:ext cx="5029200" cy="3529584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773936"/>
            <a:ext cx="82296" cy="35295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1892808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证书管理能力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75120" y="2286000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203704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模板管理：证书样式、字段映射、签章位置配置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675120" y="2798064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2715768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批量生成：按竞赛、赛道或奖项分批生成电子证书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675120" y="331012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3227832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导出下载：支持批量导出与个人下载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675120" y="3822192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739896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防伪追溯：证书编号唯一，可校验真伪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96112" y="5449824"/>
            <a:ext cx="987552" cy="219456"/>
          </a:xfrm>
          <a:prstGeom prst="roundRect">
            <a:avLst>
              <a:gd name="adj" fmla="val 25000"/>
            </a:avLst>
          </a:prstGeom>
          <a:solidFill>
            <a:srgbClr val="EF4444">
              <a:alpha val="95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545896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公示需脱敏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2011680" y="5449824"/>
            <a:ext cx="987552" cy="219456"/>
          </a:xfrm>
          <a:prstGeom prst="roundRect">
            <a:avLst>
              <a:gd name="adj" fmla="val 25000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8256" y="545896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证书可校验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3127248" y="5449824"/>
            <a:ext cx="987552" cy="219456"/>
          </a:xfrm>
          <a:prstGeom prst="roundRect">
            <a:avLst>
              <a:gd name="adj" fmla="val 25000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63824" y="545896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结果可追溯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功能架构总览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需求文档可归纳为前台业务、评审中台与平台治理三层能力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2761488"/>
            <a:ext cx="3675888" cy="969264"/>
          </a:xfrm>
          <a:prstGeom prst="roundRect">
            <a:avLst>
              <a:gd name="adj" fmla="val 754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999232"/>
            <a:ext cx="32369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教学竞赛系统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8848" y="3255264"/>
            <a:ext cx="32369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业务流程驱动 + 数据规则驱动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822960" y="1783080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96596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竞赛管理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2788920" y="1783080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196596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报名管理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96596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作品管理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720840" y="1783080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96596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评审管理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686800" y="1783080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9952" y="196596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成绩公示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1810512" y="4626864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83664" y="48097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证书管理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279392" y="4626864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48097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统计分析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748272" y="4626864"/>
            <a:ext cx="1664208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1424" y="4809744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系统管理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1636776" y="2615184"/>
            <a:ext cx="7882128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18488" y="2478024"/>
            <a:ext cx="73152" cy="137160"/>
          </a:xfrm>
          <a:prstGeom prst="roundRect">
            <a:avLst>
              <a:gd name="adj" fmla="val 25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2478024"/>
            <a:ext cx="73152" cy="137160"/>
          </a:xfrm>
          <a:prstGeom prst="roundRect">
            <a:avLst>
              <a:gd name="adj" fmla="val 25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0408" y="2478024"/>
            <a:ext cx="73152" cy="137160"/>
          </a:xfrm>
          <a:prstGeom prst="roundRect">
            <a:avLst>
              <a:gd name="adj" fmla="val 25000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16368" y="2478024"/>
            <a:ext cx="73152" cy="137160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2328" y="2478024"/>
            <a:ext cx="73152" cy="137160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62472" y="2615184"/>
            <a:ext cx="73152" cy="146304"/>
          </a:xfrm>
          <a:prstGeom prst="roundRect">
            <a:avLst>
              <a:gd name="adj" fmla="val 25000"/>
            </a:avLst>
          </a:prstGeom>
          <a:solidFill>
            <a:srgbClr val="17324D">
              <a:alpha val="80000"/>
            </a:srgb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0368" y="2313432"/>
            <a:ext cx="9326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2318004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业务汇聚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2615184" y="4370832"/>
            <a:ext cx="5047488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040" y="4434840"/>
            <a:ext cx="73152" cy="192024"/>
          </a:xfrm>
          <a:prstGeom prst="roundRect">
            <a:avLst>
              <a:gd name="adj" fmla="val 25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4434840"/>
            <a:ext cx="73152" cy="192024"/>
          </a:xfrm>
          <a:prstGeom prst="roundRect">
            <a:avLst>
              <a:gd name="adj" fmla="val 25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4434840"/>
            <a:ext cx="73152" cy="192024"/>
          </a:xfrm>
          <a:prstGeom prst="roundRect">
            <a:avLst>
              <a:gd name="adj" fmla="val 2500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62472" y="3730752"/>
            <a:ext cx="73152" cy="704088"/>
          </a:xfrm>
          <a:prstGeom prst="roundRect">
            <a:avLst>
              <a:gd name="adj" fmla="val 25000"/>
            </a:avLst>
          </a:prstGeom>
          <a:solidFill>
            <a:srgbClr val="17324D">
              <a:alpha val="80000"/>
            </a:srgb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30368" y="4078224"/>
            <a:ext cx="9326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48656" y="4082796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治理下沉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877824" y="5705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3B82F6">
              <a:alpha val="95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715000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前台业务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956816" y="5705856"/>
            <a:ext cx="969264" cy="219456"/>
          </a:xfrm>
          <a:prstGeom prst="roundRect">
            <a:avLst>
              <a:gd name="adj" fmla="val 25000"/>
            </a:avLst>
          </a:prstGeom>
          <a:solidFill>
            <a:srgbClr val="14B8A6">
              <a:alpha val="95000"/>
            </a:srgbClr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93392" y="5715000"/>
            <a:ext cx="8961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评审中台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3072384" y="5705856"/>
            <a:ext cx="932688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5715000"/>
            <a:ext cx="8595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治理支撑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核心模块设计一：前台业务链路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从参赛者视角看，竞赛、报名、作品三类能力构成前台主体验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401568" cy="42976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83080"/>
            <a:ext cx="82296" cy="4297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竞赛管理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2295144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12848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创建竞赛：名称、时间、对象、赛道、规则、评分维度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96112" y="2953512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71216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发布竞赛：支持定时发布与撤回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96112" y="361188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29584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阶段控制：报名期、提交期、评审期、公示期可配置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96112" y="427024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187952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状态监控：实时查看报名数、提交数、评审进度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4389120" y="1783080"/>
            <a:ext cx="3401568" cy="42976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783080"/>
            <a:ext cx="82296" cy="4297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1901952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报名管理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2295144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212848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在线报名：填写报名表并提交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572000" y="2953512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871216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报名审核：通过 / 驳回并记录原因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4572000" y="3611880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529584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报名变更：截止前允许修改信息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4572000" y="427024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187952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名单导出：支持按竞赛、学院、赛道导出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8065008" y="1783080"/>
            <a:ext cx="3401568" cy="42976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1783080"/>
            <a:ext cx="82296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901952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作品管理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47888" y="229514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2212848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多格式上传：文档、PPT、视频、压缩包等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8247888" y="295351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616" y="2871216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分块上传与断点续传：提升大文件成功率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8247888" y="36118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3529584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作品审核：管理员记录合规审核意见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247888" y="42702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4187952"/>
            <a:ext cx="303580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版本管理：保留历史版本并支持回溯</a:t>
            </a:r>
            <a:endParaRPr lang="en-US" sz="10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业务与功能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核心模块设计二：管理与治理链路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评审、结果、统计与系统治理共同决定平台是否真正可运营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55648"/>
            <a:ext cx="553212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865376"/>
            <a:ext cx="5202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竞赛管理员重点用例</a:t>
            </a:r>
            <a:endParaRPr lang="en-US" sz="1020" dirty="0"/>
          </a:p>
        </p:txBody>
      </p:sp>
      <p:pic>
        <p:nvPicPr>
          <p:cNvPr id="11" name="Image 0" descr="D:\SchoolTask\output\ppt_assets\usecase_manager_merma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28814"/>
            <a:ext cx="5312664" cy="189084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10528" y="1783080"/>
            <a:ext cx="50109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0528" y="1783080"/>
            <a:ext cx="82296" cy="9326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190195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评审管理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75120" y="221284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支持任务分配、评分规则、在线评审、复评仲裁与异常评分预警。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10528" y="2834640"/>
            <a:ext cx="50109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10528" y="2834640"/>
            <a:ext cx="82296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295351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成绩与公示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75120" y="326440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自动汇总评分并生成名次建议，公示内容可脱敏并支持申诉流程。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510528" y="3886200"/>
            <a:ext cx="50109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10528" y="3886200"/>
            <a:ext cx="82296" cy="9326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400507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统计分析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75120" y="431596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从报名、评审、结果三个维度生成看板与报表，支撑管理决策。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510528" y="4937760"/>
            <a:ext cx="501091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10528" y="4937760"/>
            <a:ext cx="82296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505663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系统治理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675120" y="5367528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用户角色、参数配置、日志审计与备份恢复，保证平台长期可维护。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749808"/>
            <a:ext cx="2926080" cy="2926080"/>
          </a:xfrm>
          <a:prstGeom prst="ellipse">
            <a:avLst/>
          </a:prstGeom>
          <a:solidFill>
            <a:srgbClr val="17324D">
              <a:alpha val="0"/>
            </a:srgbClr>
          </a:solidFill>
          <a:ln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170432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>
                    <a:alpha val="6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024128" y="2194560"/>
            <a:ext cx="52120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支撑与保障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2852928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数据、接口、非功能与风险控制决定系统能否稳定落地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3611880"/>
            <a:ext cx="126187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647395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E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支撑与保障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数据实体与对象关系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需求文档列出了 10 余类核心实体，主链路围绕“用户参与竞赛并沉淀结果”展开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11155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53512"/>
            <a:ext cx="96926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2304288" y="2743200"/>
            <a:ext cx="11155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953512"/>
            <a:ext cx="96926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报名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767328" y="2743200"/>
            <a:ext cx="11155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953512"/>
            <a:ext cx="96926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5230368" y="2743200"/>
            <a:ext cx="11155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953512"/>
            <a:ext cx="96926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评审任务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967728" y="2743200"/>
            <a:ext cx="1325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953512"/>
            <a:ext cx="117957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评分明细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11155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2953512"/>
            <a:ext cx="96926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成绩结果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10259568" y="2743200"/>
            <a:ext cx="11155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2953512"/>
            <a:ext cx="96926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1956816" y="3081528"/>
            <a:ext cx="347472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9856" y="3081528"/>
            <a:ext cx="347472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3081528"/>
            <a:ext cx="347472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5936" y="3081528"/>
            <a:ext cx="621792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3608" y="3081528"/>
            <a:ext cx="411480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0656" y="3081528"/>
            <a:ext cx="438912" cy="64008"/>
          </a:xfrm>
          <a:prstGeom prst="roundRect">
            <a:avLst>
              <a:gd name="adj" fmla="val 28571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92808" y="2523744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11096" y="252831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355848" y="2523744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74136" y="252831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4818888" y="2523744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252831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2C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391656" y="2523744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252831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8257032" y="2523744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52831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汇总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9838944" y="2523744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57232" y="2528316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发证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1344168" y="2487168"/>
            <a:ext cx="64008" cy="256032"/>
          </a:xfrm>
          <a:prstGeom prst="roundRect">
            <a:avLst>
              <a:gd name="adj" fmla="val 28571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96896" y="2487168"/>
            <a:ext cx="64008" cy="137160"/>
          </a:xfrm>
          <a:prstGeom prst="roundRect">
            <a:avLst>
              <a:gd name="adj" fmla="val 28571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0904" y="2560320"/>
            <a:ext cx="201168" cy="64008"/>
          </a:xfrm>
          <a:prstGeom prst="roundRect">
            <a:avLst>
              <a:gd name="adj" fmla="val 28571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98064" y="2560320"/>
            <a:ext cx="64008" cy="182880"/>
          </a:xfrm>
          <a:prstGeom prst="roundRect">
            <a:avLst>
              <a:gd name="adj" fmla="val 28571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70448" y="3456432"/>
            <a:ext cx="64008" cy="612648"/>
          </a:xfrm>
          <a:prstGeom prst="roundRect">
            <a:avLst>
              <a:gd name="adj" fmla="val 28571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3456432"/>
            <a:ext cx="64008" cy="228600"/>
          </a:xfrm>
          <a:prstGeom prst="roundRect">
            <a:avLst>
              <a:gd name="adj" fmla="val 28571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43416" y="3685032"/>
            <a:ext cx="219456" cy="64008"/>
          </a:xfrm>
          <a:prstGeom prst="roundRect">
            <a:avLst>
              <a:gd name="adj" fmla="val 28571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15984" y="3685032"/>
            <a:ext cx="64008" cy="384048"/>
          </a:xfrm>
          <a:prstGeom prst="roundRect">
            <a:avLst>
              <a:gd name="adj" fmla="val 28571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0" y="1719072"/>
            <a:ext cx="1225296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11680" y="1719072"/>
            <a:ext cx="82296" cy="768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76272" y="1837944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2176272" y="2148840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定义赛道、时间与规则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41248" y="1719072"/>
            <a:ext cx="932688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1248" y="1719072"/>
            <a:ext cx="82296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1837944"/>
            <a:ext cx="6766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005840" y="2148840"/>
            <a:ext cx="676656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控制权限边界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8339328" y="4069080"/>
            <a:ext cx="1408176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39328" y="4069080"/>
            <a:ext cx="82296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03920" y="4187952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8503920" y="4498848"/>
            <a:ext cx="115214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驱动状态反馈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4956048" y="4069080"/>
            <a:ext cx="190195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56048" y="4069080"/>
            <a:ext cx="82296" cy="7680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41879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审计日志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5120640" y="449884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记录关键操作与异常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713232" y="5376672"/>
            <a:ext cx="10863072" cy="694944"/>
          </a:xfrm>
          <a:prstGeom prst="roundRect">
            <a:avLst>
              <a:gd name="adj" fmla="val 7895"/>
            </a:avLst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" y="5376672"/>
            <a:ext cx="82296" cy="69494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7824" y="5495544"/>
            <a:ext cx="10607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关键字段要求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77824" y="5806440"/>
            <a:ext cx="1060704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所有核心表具备 id、created_at、updated_at、created_by；作品需保存路径、哈希、大小、格式、版本；证书需保存编号、模板版本、生成时间、校验码。</a:t>
            </a:r>
            <a:endParaRPr lang="en-US" sz="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支撑与保障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接口集成设计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接口层的目标是把认证、基础数据和消息能力整合进竞赛业务，而不是新增一个孤立系统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86784" y="1901952"/>
            <a:ext cx="422452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86784" y="1901952"/>
            <a:ext cx="82296" cy="188366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1376" y="2020824"/>
            <a:ext cx="39684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教学竞赛系统接口层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51376" y="2331720"/>
            <a:ext cx="3968496" cy="1353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统一接入认证、教务、消息与日志能力，支撑前台业务与中后台治理。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49808" y="1737360"/>
            <a:ext cx="254203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1737360"/>
            <a:ext cx="82296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85623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统一身份认证接口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167128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登录认证、单点登录、全局退出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49808" y="3730752"/>
            <a:ext cx="254203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730752"/>
            <a:ext cx="82296" cy="10241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962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教务系统接口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师生信息同步、组织架构同步、定时 / 手动更新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613648" y="2724912"/>
            <a:ext cx="254203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724912"/>
            <a:ext cx="82296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284378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消息通知接口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3154680"/>
            <a:ext cx="2286000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站内消息，可扩展短信 / 邮件通知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291840" y="2231136"/>
            <a:ext cx="310896" cy="54864"/>
          </a:xfrm>
          <a:prstGeom prst="roundRect">
            <a:avLst>
              <a:gd name="adj" fmla="val 33333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02736" y="2258568"/>
            <a:ext cx="54864" cy="2011680"/>
          </a:xfrm>
          <a:prstGeom prst="roundRect">
            <a:avLst>
              <a:gd name="adj" fmla="val 33333"/>
            </a:avLst>
          </a:prstGeom>
          <a:solidFill>
            <a:srgbClr val="D7E0EA">
              <a:alpha val="80000"/>
            </a:srgbClr>
          </a:solidFill>
          <a:ln w="12700">
            <a:solidFill>
              <a:srgbClr val="D7E0E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4224528"/>
            <a:ext cx="310896" cy="54864"/>
          </a:xfrm>
          <a:prstGeom prst="roundRect">
            <a:avLst>
              <a:gd name="adj" fmla="val 33333"/>
            </a:avLst>
          </a:prstGeom>
          <a:solidFill>
            <a:srgbClr val="14B8A6">
              <a:alpha val="8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3191256"/>
            <a:ext cx="329184" cy="54864"/>
          </a:xfrm>
          <a:prstGeom prst="roundRect">
            <a:avLst>
              <a:gd name="adj" fmla="val 33333"/>
            </a:avLst>
          </a:prstGeom>
          <a:solidFill>
            <a:srgbClr val="17324D">
              <a:alpha val="80000"/>
            </a:srgb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11312" y="3191256"/>
            <a:ext cx="402336" cy="54864"/>
          </a:xfrm>
          <a:prstGeom prst="roundRect">
            <a:avLst>
              <a:gd name="adj" fmla="val 3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3785616"/>
            <a:ext cx="54864" cy="1170432"/>
          </a:xfrm>
          <a:prstGeom prst="roundRect">
            <a:avLst>
              <a:gd name="adj" fmla="val 3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1216" y="1993392"/>
            <a:ext cx="493776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9504" y="199796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2871216" y="3986784"/>
            <a:ext cx="493776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9504" y="3991356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675888" y="2962656"/>
            <a:ext cx="493776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1732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4176" y="2967228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8211312" y="2962656"/>
            <a:ext cx="493776" cy="164592"/>
          </a:xfrm>
          <a:prstGeom prst="roundRect">
            <a:avLst>
              <a:gd name="adj" fmla="val 22222"/>
            </a:avLst>
          </a:prstGeom>
          <a:solidFill>
            <a:srgbClr val="F6F8F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2967228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749808" y="4956048"/>
            <a:ext cx="10405872" cy="1078992"/>
          </a:xfrm>
          <a:prstGeom prst="roundRect">
            <a:avLst>
              <a:gd name="adj" fmla="val 5085"/>
            </a:avLst>
          </a:prstGeom>
          <a:solidFill>
            <a:srgbClr val="EEF4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" y="4956048"/>
            <a:ext cx="82296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07492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接口通用要求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2688" y="546811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" y="5385816"/>
            <a:ext cx="100401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统一采用 HTTPS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932688" y="566928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" y="5586984"/>
            <a:ext cx="100401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鉴权采用 token 或签名机制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932688" y="587044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" y="5788152"/>
            <a:ext cx="100401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必须记录请求日志、错误码与调用时延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支撑与保障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非功能指标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251460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947672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≥500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77824" y="2423160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同时在线访问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41248" y="2679192"/>
            <a:ext cx="22585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满足校内竞赛高峰访问场景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493008" y="1783080"/>
            <a:ext cx="251460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947672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≤3s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657600" y="2423160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核心业务响应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621024" y="2679192"/>
            <a:ext cx="22585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发布、审核、评分等操作需快速反馈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72784" y="1783080"/>
            <a:ext cx="251460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947672"/>
            <a:ext cx="218541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≤2s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437376" y="2423160"/>
            <a:ext cx="21854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页面加载时间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400800" y="2679192"/>
            <a:ext cx="22585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校内网络环境下保证首屏体验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052560" y="1783080"/>
            <a:ext cx="2468880" cy="133502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1947672"/>
            <a:ext cx="213969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每日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217152" y="2423160"/>
            <a:ext cx="2139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备份与恢复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180576" y="2679192"/>
            <a:ext cx="221284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关键数据需可恢复、可追溯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13232" y="3730752"/>
            <a:ext cx="256032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730752"/>
            <a:ext cx="82296" cy="20299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3849624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6112" y="424281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1605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账号、权限、操作行为全程可审计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96112" y="468172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59943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敏感数据传输加密、存储加密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96112" y="512064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03834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防越权、防重复提交、防非法文件上传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3547872" y="3730752"/>
            <a:ext cx="256032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47872" y="3730752"/>
            <a:ext cx="82296" cy="20299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12464" y="3849624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可靠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30752" y="4242816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41605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关键服务可监控、可告警、可恢复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3730752" y="468172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459943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数据每日自动备份，支持时间点恢复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730752" y="512064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503834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异常情况下保证数据一致性与可追溯性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382512" y="3730752"/>
            <a:ext cx="256032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82512" y="3730752"/>
            <a:ext cx="82296" cy="20299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3849624"/>
            <a:ext cx="23042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易用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65392" y="4242816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41605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不同角色展示不同功能入口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6565392" y="468172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459943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表单校验与错误提示清晰可修复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6565392" y="5120640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503834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公示与查询流程简洁，降低学习成本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9217152" y="3730752"/>
            <a:ext cx="2304288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17152" y="3730752"/>
            <a:ext cx="82296" cy="2029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81744" y="384962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可维护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400032" y="42428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09760" y="4160520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模块化设计，便于新增赛道与规则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400032" y="468172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09760" y="4599432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日志、配置、字典可后台维护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400032" y="51206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09760" y="5038344"/>
            <a:ext cx="1938528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对外接口版本化，兼容后续升级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支撑与保障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约束风险与应对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7899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风险识别越早，越能把需求侧的不确定性转化为实施阶段的可控动作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7824" y="1883664"/>
            <a:ext cx="1170432" cy="804672"/>
          </a:xfrm>
          <a:prstGeom prst="rect">
            <a:avLst/>
          </a:prstGeom>
          <a:solidFill>
            <a:srgbClr val="F8CAC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1883664"/>
            <a:ext cx="1170432" cy="804672"/>
          </a:xfrm>
          <a:prstGeom prst="rect">
            <a:avLst/>
          </a:prstGeom>
          <a:solidFill>
            <a:srgbClr val="F29E9E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883664"/>
            <a:ext cx="1170432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688336"/>
            <a:ext cx="1170432" cy="804672"/>
          </a:xfrm>
          <a:prstGeom prst="rect">
            <a:avLst/>
          </a:prstGeom>
          <a:solidFill>
            <a:srgbClr val="FDE2C2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2688336"/>
            <a:ext cx="1170432" cy="804672"/>
          </a:xfrm>
          <a:prstGeom prst="rect">
            <a:avLst/>
          </a:prstGeom>
          <a:solidFill>
            <a:srgbClr val="F8C38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2688336"/>
            <a:ext cx="117043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493008"/>
            <a:ext cx="1170432" cy="804672"/>
          </a:xfrm>
          <a:prstGeom prst="rect">
            <a:avLst/>
          </a:prstGeom>
          <a:solidFill>
            <a:srgbClr val="FDF6E3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48256" y="3493008"/>
            <a:ext cx="1170432" cy="804672"/>
          </a:xfrm>
          <a:prstGeom prst="rect">
            <a:avLst/>
          </a:prstGeom>
          <a:solidFill>
            <a:srgbClr val="FCE7B2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3493008"/>
            <a:ext cx="1170432" cy="804672"/>
          </a:xfrm>
          <a:prstGeom prst="rect">
            <a:avLst/>
          </a:prstGeom>
          <a:solidFill>
            <a:srgbClr val="FAD46D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157276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585216" y="2084832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85216" y="2889504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85216" y="3694176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1993392" y="4462272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252728" y="418795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2423160" y="418795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3593592" y="4187952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07792" y="1956816"/>
            <a:ext cx="1298448" cy="219456"/>
          </a:xfrm>
          <a:prstGeom prst="roundRect">
            <a:avLst>
              <a:gd name="adj" fmla="val 25000"/>
            </a:avLst>
          </a:prstGeom>
          <a:solidFill>
            <a:srgbClr val="EF4444">
              <a:alpha val="95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1965960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R1 需求变更频繁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664208" y="2724912"/>
            <a:ext cx="1298448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00784" y="2734056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R2 接口联调延迟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2852928" y="2779776"/>
            <a:ext cx="1298448" cy="219456"/>
          </a:xfrm>
          <a:prstGeom prst="roundRect">
            <a:avLst>
              <a:gd name="adj" fmla="val 25000"/>
            </a:avLst>
          </a:prstGeom>
          <a:solidFill>
            <a:srgbClr val="EF4444">
              <a:alpha val="95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2788920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R3 高峰期性能压力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1828800" y="3547872"/>
            <a:ext cx="1298448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9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65376" y="3557016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R4 大文件传输风险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754880" y="1792224"/>
            <a:ext cx="67665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792224"/>
            <a:ext cx="82296" cy="10607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1911096"/>
            <a:ext cx="6510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 1：需求频繁变更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19472" y="2221992"/>
            <a:ext cx="651052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提前冻结核心范围，拆分“必做 / 可选”需求，避免范围膨胀。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754880" y="2999232"/>
            <a:ext cx="67665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999232"/>
            <a:ext cx="82296" cy="10607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118104"/>
            <a:ext cx="6510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 2：外部接口与测试环境交付延迟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19472" y="3429000"/>
            <a:ext cx="651052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接口联调前先完成字段映射与模拟联调，尽早暴露依赖问题。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4754880" y="4206240"/>
            <a:ext cx="676656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4206240"/>
            <a:ext cx="82296" cy="10607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325112"/>
            <a:ext cx="6510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 3：高峰访问与大文件传输压力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919472" y="4636008"/>
            <a:ext cx="651052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提前压测关键链路，使用分块上传、异步任务与备份策略降低风险。</a:t>
            </a:r>
            <a:endParaRPr lang="en-US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2855" y="128016"/>
            <a:ext cx="21488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560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301752"/>
            <a:ext cx="886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支撑与保障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验收标准与汇报结论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065022"/>
            <a:ext cx="7132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5577840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83080"/>
            <a:ext cx="82296" cy="44622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321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验收准则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9264" y="2331720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350008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31343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功能验收：发布、报名、提交、评审、公示、证书、统计全部可用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969264" y="3026664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044952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008376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数据验收：与教务及认证系统的数据同步准确率达标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69264" y="3721608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739896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370332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性能验收：满足并发访问与响应时间指标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969264" y="4416552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434840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53312" y="4398264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安全验收：权限隔离有效、日志完整、无高危漏洞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69264" y="5111496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" y="5129784"/>
            <a:ext cx="2011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53312" y="509320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文档验收：需求结构完整、可追溯，可直接输入后续设计与测试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565392" y="1782445"/>
            <a:ext cx="4956048" cy="4462272"/>
          </a:xfrm>
          <a:prstGeom prst="roundRect">
            <a:avLst>
              <a:gd name="adj" fmla="val 163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21488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汇报结论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94576" y="2615184"/>
            <a:ext cx="409651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895084" y="272567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465" y="2648585"/>
            <a:ext cx="4096385" cy="4819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业务闭环完整：覆盖发布、报名、提交、评审、公示、证书全过程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905879" y="342849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374136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职责边界清晰：角色分工、外部依赖、接口责任都已明确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6912864" y="412369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022592" y="4041394"/>
            <a:ext cx="4096512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治理要求充分：性能、安全、可靠性、审计与风险控制有明确指标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894576" y="5449824"/>
            <a:ext cx="1316736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4576" y="56509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4707</Words>
  <Application>WPS 演示</Application>
  <PresentationFormat>宽屏</PresentationFormat>
  <Paragraphs>874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SchoolTask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教学竞赛系统需求汇报</dc:title>
  <dc:creator>OpenAI Codex</dc:creator>
  <dc:subject>教学竞赛系统需求分析汇报</dc:subject>
  <cp:lastModifiedBy>哎呦</cp:lastModifiedBy>
  <cp:revision>5</cp:revision>
  <dcterms:created xsi:type="dcterms:W3CDTF">2026-03-18T15:06:00Z</dcterms:created>
  <dcterms:modified xsi:type="dcterms:W3CDTF">2026-03-19T04:07:02Z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4EA550EED43440A888963697F8EEC054_13</vt:lpwstr>
  </property>
  <property fmtid="{D5CDD505-2E9C-101B-9397-08002B2CF9AE}" pid="3" name="KSOProductBuildVer">
    <vt:lpwstr>2052-12.1.0.24657</vt:lpwstr>
  </property>
</Properties>
</file>